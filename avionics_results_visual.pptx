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219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196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196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196A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07B3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Normal
Precision</c:v>
                  </c:pt>
                  <c:pt idx="1">
                    <c:v>Normal
Recall</c:v>
                  </c:pt>
                  <c:pt idx="2">
                    <c:v>Normal
F1</c:v>
                  </c:pt>
                  <c:pt idx="3">
                    <c:v>Attack
Precision</c:v>
                  </c:pt>
                  <c:pt idx="4">
                    <c:v>Attack
Recall</c:v>
                  </c:pt>
                  <c:pt idx="5">
                    <c:v>Attack
F1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83</c:v>
                </c:pt>
                <c:pt idx="1">
                  <c:v>97</c:v>
                </c:pt>
                <c:pt idx="2">
                  <c:v>90</c:v>
                </c:pt>
                <c:pt idx="3">
                  <c:v>92</c:v>
                </c:pt>
                <c:pt idx="4">
                  <c:v>60</c:v>
                </c:pt>
                <c:pt idx="5">
                  <c:v>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(%)</c:v>
                </c:pt>
              </c:strCache>
            </c:strRef>
          </c:tx>
          <c:spPr>
            <a:solidFill>
              <a:srgbClr val="AAAA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1111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AAAA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A8C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protocol</c:v>
                  </c:pt>
                  <c:pt idx="1">
                    <c:v>source_node</c:v>
                  </c:pt>
                  <c:pt idx="2">
                    <c:v>dest_node</c:v>
                  </c:pt>
                  <c:pt idx="3">
                    <c:v>delay</c:v>
                  </c:pt>
                  <c:pt idx="4">
                    <c:v>packet_size</c:v>
                  </c:pt>
                  <c:pt idx="5">
                    <c:v>frequency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4.7</c:v>
                </c:pt>
                <c:pt idx="1">
                  <c:v>5.6</c:v>
                </c:pt>
                <c:pt idx="2">
                  <c:v>6.2</c:v>
                </c:pt>
                <c:pt idx="3">
                  <c:v>24.6</c:v>
                </c:pt>
                <c:pt idx="4">
                  <c:v>28.2</c:v>
                </c:pt>
                <c:pt idx="5">
                  <c:v>30.8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1111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00A8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0-100</c:v>
                  </c:pt>
                  <c:pt idx="1">
                    <c:v>100-200</c:v>
                  </c:pt>
                  <c:pt idx="2">
                    <c:v>200-400</c:v>
                  </c:pt>
                  <c:pt idx="3">
                    <c:v>400-600</c:v>
                  </c:pt>
                  <c:pt idx="4">
                    <c:v>600-800</c:v>
                  </c:pt>
                  <c:pt idx="5">
                    <c:v>800+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</c:v>
                </c:pt>
                <c:pt idx="1">
                  <c:v>162</c:v>
                </c:pt>
                <c:pt idx="2">
                  <c:v>20</c:v>
                </c:pt>
                <c:pt idx="3">
                  <c:v>6</c:v>
                </c:pt>
                <c:pt idx="4">
                  <c:v>2</c:v>
                </c:pt>
                <c:pt idx="5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Attack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0-100</c:v>
                  </c:pt>
                  <c:pt idx="1">
                    <c:v>100-200</c:v>
                  </c:pt>
                  <c:pt idx="2">
                    <c:v>200-400</c:v>
                  </c:pt>
                  <c:pt idx="3">
                    <c:v>400-600</c:v>
                  </c:pt>
                  <c:pt idx="4">
                    <c:v>600-800</c:v>
                  </c:pt>
                  <c:pt idx="5">
                    <c:v>800+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</c:v>
                </c:pt>
                <c:pt idx="1">
                  <c:v>30</c:v>
                </c:pt>
                <c:pt idx="2">
                  <c:v>10</c:v>
                </c:pt>
                <c:pt idx="3">
                  <c:v>8</c:v>
                </c:pt>
                <c:pt idx="4">
                  <c:v>9</c:v>
                </c:pt>
                <c:pt idx="5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Traffic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8CC"/>
              </a:solidFill>
              <a:effectLst/>
            </c:spPr>
          </c:dPt>
          <c:dPt>
            <c:idx val="1"/>
            <c:bubble3D val="0"/>
            <c:spPr>
              <a:solidFill>
                <a:srgbClr val="C0392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Normal (67%)</c:v>
                </c:pt>
                <c:pt idx="1">
                  <c:v>Attack (33%)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200</c:v>
                </c:pt>
                <c:pt idx="1">
                  <c:v>100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Cyber Threat Detection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11480" y="11430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Avionics Communication Networks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6916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 |  Simulated Dataset  |  300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331720"/>
            <a:ext cx="1920240" cy="1417320"/>
          </a:xfrm>
          <a:prstGeom prst="rect">
            <a:avLst/>
          </a:prstGeom>
          <a:solidFill>
            <a:srgbClr val="0F2040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331720"/>
            <a:ext cx="1920240" cy="6400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39572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1148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2331720"/>
            <a:ext cx="1920240" cy="1417320"/>
          </a:xfrm>
          <a:prstGeom prst="rect">
            <a:avLst/>
          </a:prstGeom>
          <a:solidFill>
            <a:srgbClr val="0F2040"/>
          </a:solidFill>
          <a:ln w="19050">
            <a:solidFill>
              <a:srgbClr val="0A9E6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2331720"/>
            <a:ext cx="1920240" cy="64008"/>
          </a:xfrm>
          <a:prstGeom prst="rect">
            <a:avLst/>
          </a:prstGeom>
          <a:solidFill>
            <a:srgbClr val="0A9E6E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239572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56032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Precision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2331720"/>
            <a:ext cx="1920240" cy="1417320"/>
          </a:xfrm>
          <a:prstGeom prst="rect">
            <a:avLst/>
          </a:prstGeom>
          <a:solidFill>
            <a:srgbClr val="0F2040"/>
          </a:solidFill>
          <a:ln w="19050">
            <a:solidFill>
              <a:srgbClr val="5B9BD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2331720"/>
            <a:ext cx="1920240" cy="64008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39572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70916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Recall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331720"/>
            <a:ext cx="1920240" cy="1417320"/>
          </a:xfrm>
          <a:prstGeom prst="rect">
            <a:avLst/>
          </a:prstGeom>
          <a:solidFill>
            <a:srgbClr val="0F20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2331720"/>
            <a:ext cx="1920240" cy="6400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2395728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858000" y="31729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Weight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39319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Composition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206240"/>
            <a:ext cx="5486400" cy="320040"/>
          </a:xfrm>
          <a:prstGeom prst="rect">
            <a:avLst/>
          </a:prstGeom>
          <a:solidFill>
            <a:srgbClr val="0F2040"/>
          </a:solidFill>
          <a:ln/>
        </p:spPr>
      </p:sp>
      <p:sp>
        <p:nvSpPr>
          <p:cNvPr id="24" name="Shape 22"/>
          <p:cNvSpPr/>
          <p:nvPr/>
        </p:nvSpPr>
        <p:spPr>
          <a:xfrm>
            <a:off x="411480" y="4206240"/>
            <a:ext cx="3657600" cy="320040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062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(200)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069080" y="420624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(100)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pandas · scikit-learn · RandomForestClassifier  |  Environment: Python 3 · Google Colab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Classification Results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43000" y="10058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Normal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651760" y="10058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Attack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749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7498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000" dirty="0"/>
          </a:p>
          <a:p>
            <a:pPr algn="r" indent="0" marL="0">
              <a:buNone/>
            </a:pPr>
            <a:r>
              <a:rPr lang="en-US" sz="10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3000" y="1371600"/>
            <a:ext cx="1417320" cy="960120"/>
          </a:xfrm>
          <a:prstGeom prst="rect">
            <a:avLst/>
          </a:prstGeom>
          <a:solidFill>
            <a:srgbClr val="D4EDDA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3716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143000" y="19659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51760" y="1371600"/>
            <a:ext cx="1417320" cy="960120"/>
          </a:xfrm>
          <a:prstGeom prst="rect">
            <a:avLst/>
          </a:prstGeom>
          <a:solidFill>
            <a:srgbClr val="FFF3CD"/>
          </a:solidFill>
          <a:ln w="12700">
            <a:solidFill>
              <a:srgbClr val="E07B3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51760" y="137160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51760" y="196596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43000" y="2423160"/>
            <a:ext cx="1417320" cy="960120"/>
          </a:xfrm>
          <a:prstGeom prst="rect">
            <a:avLst/>
          </a:prstGeom>
          <a:solidFill>
            <a:srgbClr val="F8D7DA"/>
          </a:solidFill>
          <a:ln w="12700">
            <a:solidFill>
              <a:srgbClr val="DC35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24231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21C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143000" y="30175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51760" y="2423160"/>
            <a:ext cx="1417320" cy="960120"/>
          </a:xfrm>
          <a:prstGeom prst="rect">
            <a:avLst/>
          </a:prstGeom>
          <a:solidFill>
            <a:srgbClr val="D4EDDA"/>
          </a:solidFill>
          <a:ln w="12700">
            <a:solidFill>
              <a:srgbClr val="28A74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24231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57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2651760" y="301752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9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572000" y="868680"/>
          <a:ext cx="429768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0" y="4526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 = Normal class   |   Amber = Attack class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45720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missed attacks drive low attack recall (60%) — addressed by expanding dataset or applying SMOTE balancing.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Detection?  Feature Importance &amp; Traffic Patterns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59028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features = 83.6% of model decisions</a:t>
            </a:r>
            <a:endParaRPr lang="en-US" sz="9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754880" y="914400"/>
          <a:ext cx="41148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754880" y="45902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(msg/s) bins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74320" y="4160520"/>
            <a:ext cx="4389120" cy="384048"/>
          </a:xfrm>
          <a:prstGeom prst="rect">
            <a:avLst/>
          </a:prstGeom>
          <a:solidFill>
            <a:srgbClr val="EAF6FF"/>
          </a:solidFill>
          <a:ln w="12700">
            <a:solidFill>
              <a:srgbClr val="00A8C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" y="4160520"/>
            <a:ext cx="4297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traffic clusters at 100-200 msg/s. DoS attacks flood at 800+ msg/s — frequency is the #1 signal.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Pipeline &amp; Attack Type Breakdown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868680"/>
            <a:ext cx="1261872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28600" y="868680"/>
            <a:ext cx="1261872" cy="6400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93268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" y="149047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traffic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99616" y="1325880"/>
            <a:ext cx="109728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18488" y="868680"/>
            <a:ext cx="1261872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A8C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18488" y="868680"/>
            <a:ext cx="1261872" cy="64008"/>
          </a:xfrm>
          <a:prstGeom prst="rect">
            <a:avLst/>
          </a:prstGeom>
          <a:solidFill>
            <a:srgbClr val="00A8CC"/>
          </a:solidFill>
          <a:ln/>
        </p:spPr>
      </p:sp>
      <p:sp>
        <p:nvSpPr>
          <p:cNvPr id="10" name="Text 8"/>
          <p:cNvSpPr/>
          <p:nvPr/>
        </p:nvSpPr>
        <p:spPr>
          <a:xfrm>
            <a:off x="1618488" y="93268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18488" y="149047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records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89504" y="1325880"/>
            <a:ext cx="109728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08376" y="868680"/>
            <a:ext cx="1261872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08376" y="868680"/>
            <a:ext cx="1261872" cy="640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5" name="Text 13"/>
          <p:cNvSpPr/>
          <p:nvPr/>
        </p:nvSpPr>
        <p:spPr>
          <a:xfrm>
            <a:off x="3008376" y="93268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Encode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08376" y="149047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79392" y="1325880"/>
            <a:ext cx="109728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98264" y="868680"/>
            <a:ext cx="1261872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98264" y="868680"/>
            <a:ext cx="1261872" cy="640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0" name="Text 18"/>
          <p:cNvSpPr/>
          <p:nvPr/>
        </p:nvSpPr>
        <p:spPr>
          <a:xfrm>
            <a:off x="4398264" y="93268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98264" y="149047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69280" y="1325880"/>
            <a:ext cx="109728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88152" y="868680"/>
            <a:ext cx="1261872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E07B3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88152" y="868680"/>
            <a:ext cx="1261872" cy="64008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5" name="Text 23"/>
          <p:cNvSpPr/>
          <p:nvPr/>
        </p:nvSpPr>
        <p:spPr>
          <a:xfrm>
            <a:off x="5788152" y="93268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88152" y="149047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059168" y="1325880"/>
            <a:ext cx="109728" cy="0"/>
          </a:xfrm>
          <a:prstGeom prst="line">
            <a:avLst/>
          </a:prstGeom>
          <a:noFill/>
          <a:ln w="19050">
            <a:solidFill>
              <a:srgbClr val="3A5A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78040" y="868680"/>
            <a:ext cx="1261872" cy="914400"/>
          </a:xfrm>
          <a:prstGeom prst="rect">
            <a:avLst/>
          </a:prstGeom>
          <a:solidFill>
            <a:srgbClr val="0F2040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78040" y="868680"/>
            <a:ext cx="1261872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0" name="Text 28"/>
          <p:cNvSpPr/>
          <p:nvPr/>
        </p:nvSpPr>
        <p:spPr>
          <a:xfrm>
            <a:off x="7178040" y="93268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78040" y="1490472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2860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Types in Dataset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28600" y="2423160"/>
            <a:ext cx="1783080" cy="1143000"/>
          </a:xfrm>
          <a:prstGeom prst="rect">
            <a:avLst/>
          </a:prstGeom>
          <a:solidFill>
            <a:srgbClr val="0F2040"/>
          </a:solidFill>
          <a:ln w="1524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2423160"/>
            <a:ext cx="1783080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228600" y="247802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28600" y="288950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 + large packets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228600" y="3246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67128" y="2423160"/>
            <a:ext cx="1783080" cy="1143000"/>
          </a:xfrm>
          <a:prstGeom prst="rect">
            <a:avLst/>
          </a:prstGeom>
          <a:solidFill>
            <a:srgbClr val="0F2040"/>
          </a:solidFill>
          <a:ln w="15240">
            <a:solidFill>
              <a:srgbClr val="E07B3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167128" y="2423160"/>
            <a:ext cx="1783080" cy="54864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0" name="Text 38"/>
          <p:cNvSpPr/>
          <p:nvPr/>
        </p:nvSpPr>
        <p:spPr>
          <a:xfrm>
            <a:off x="2167128" y="247802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2167128" y="288950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elevated frequency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167128" y="3246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05656" y="2423160"/>
            <a:ext cx="1783080" cy="1143000"/>
          </a:xfrm>
          <a:prstGeom prst="rect">
            <a:avLst/>
          </a:prstGeom>
          <a:solidFill>
            <a:srgbClr val="0F2040"/>
          </a:solidFill>
          <a:ln w="15240">
            <a:solidFill>
              <a:srgbClr val="9B59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105656" y="2423160"/>
            <a:ext cx="1783080" cy="54864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45" name="Text 43"/>
          <p:cNvSpPr/>
          <p:nvPr/>
        </p:nvSpPr>
        <p:spPr>
          <a:xfrm>
            <a:off x="4105656" y="247802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105656" y="288950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Mimics normal traffic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105656" y="3246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44184" y="2423160"/>
            <a:ext cx="1783080" cy="1143000"/>
          </a:xfrm>
          <a:prstGeom prst="rect">
            <a:avLst/>
          </a:prstGeom>
          <a:solidFill>
            <a:srgbClr val="0F2040"/>
          </a:solidFill>
          <a:ln w="15240">
            <a:solidFill>
              <a:srgbClr val="2980B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044184" y="2423160"/>
            <a:ext cx="178308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0" name="Text 48"/>
          <p:cNvSpPr/>
          <p:nvPr/>
        </p:nvSpPr>
        <p:spPr>
          <a:xfrm>
            <a:off x="6044184" y="2478024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Fuzzing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044184" y="288950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random values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044184" y="324612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graphicFrame>
        <p:nvGraphicFramePr>
          <p:cNvPr id="53" name="Chart 0" descr=""/>
          <p:cNvGraphicFramePr/>
          <p:nvPr/>
        </p:nvGraphicFramePr>
        <p:xfrm>
          <a:off x="7818120" y="1828800"/>
          <a:ext cx="109728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4" name="Text 51"/>
          <p:cNvSpPr/>
          <p:nvPr/>
        </p:nvSpPr>
        <p:spPr>
          <a:xfrm>
            <a:off x="228600" y="47365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85%  |  Attack Precision: 92%  |  Normal Recall: 97%  |  Top Feature: frequency (30.8%)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Avionics CyberSecurity — Key Results</dc:title>
  <dc:subject>PptxGenJS Presentation</dc:subject>
  <dc:creator>PptxGenJS</dc:creator>
  <cp:lastModifiedBy>PptxGenJS</cp:lastModifiedBy>
  <cp:revision>1</cp:revision>
  <dcterms:created xsi:type="dcterms:W3CDTF">2026-04-08T13:45:01Z</dcterms:created>
  <dcterms:modified xsi:type="dcterms:W3CDTF">2026-04-08T13:45:01Z</dcterms:modified>
</cp:coreProperties>
</file>